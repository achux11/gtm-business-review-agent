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348f6820-b607-95c6-1c3f-01b2257dc58c}">
          <p14:sldIdLst>
            <p14:sldId id="256"/>
          </p14:sldIdLst>
        </p14:section>
        <p14:section name="Performance" id="{273963cb-7931-a6c8-13b0-c19dad240bd8}">
          <p14:sldIdLst>
            <p14:sldId id="257"/>
            <p14:sldId id="258"/>
            <p14:sldId id="259"/>
          </p14:sldIdLst>
        </p14:section>
        <p14:section name="Actions" id="{b432aa5a-d52b-3fed-ce18-faa87876978d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346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3460"/>
                </a:solidFill>
                <a:latin typeface="+mn-lt"/>
              </a:rPr>
              <a:t>Net revenue, $M (constant currency forecast)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($M)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dLbls>
            <c:numFmt formatCode="$0.0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13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FY2025 actual</c:v>
                  </c:pt>
                  <c:pt idx="1">
                    <c:v>FY2026 forecast</c:v>
                  </c:pt>
                  <c:pt idx="2">
                    <c:v>FY2027 forecast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3.37</c:v>
                </c:pt>
                <c:pt idx="1">
                  <c:v>4.28</c:v>
                </c:pt>
                <c:pt idx="2">
                  <c:v>5.2</c:v>
                </c:pt>
              </c:numCache>
            </c:numRef>
          </c:val>
        </c:ser>
        <c:dLbls>
          <c:numFmt formatCode="$0.0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213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1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$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346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3460"/>
                </a:solidFill>
                <a:latin typeface="+mn-lt"/>
              </a:rPr>
              <a:t>Trial-to-paid conversion by platform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Trial-to-paid conversion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13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34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34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A23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Web</c:v>
                  </c:pt>
                  <c:pt idx="1">
                    <c:v>iOS</c:v>
                  </c:pt>
                  <c:pt idx="2">
                    <c:v>Android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41.9</c:v>
                </c:pt>
                <c:pt idx="1">
                  <c:v>35.1</c:v>
                </c:pt>
                <c:pt idx="2">
                  <c:v>29.8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213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1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346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3460"/>
                </a:solidFill>
                <a:latin typeface="+mn-lt"/>
              </a:rPr>
              <a:t>30 campaigns vs. untargeted control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Campaigns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9A23B"/>
              </a:solidFill>
              <a:effectLst/>
            </c:spPr>
          </c:dPt>
          <c:dPt>
            <c:idx val="1"/>
            <c:bubble3D val="0"/>
            <c:spPr>
              <a:solidFill>
                <a:srgbClr val="C9D2E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6213E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6213E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Significant lift</c:v>
                </c:pt>
                <c:pt idx="1">
                  <c:v>No significant lift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</c:v>
                </c:pt>
                <c:pt idx="1">
                  <c:v>28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6213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reached $3.37M in FY2025, up 30.7% reported and 32.8% at constant currency; the model forecasts $4.28M for FY2026 (27.1% growth). Only 2 of 30 marketing campaigns produced a statistically significant sales lift, and the portfolio's incremental sales were -$30K versus control, which is indistinguishable from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47.0% of revenue is billed in non-USD currencies (4 currencies); a 10% currency move changes FY2026 revenue by $201K, and currency already cost 2.1 pts of FY2025 growth. Short-term run-rate forecasts look fine but miss long-range dynamics: over 24 months the cohort model's error is 2.8% versus 17.6% for a run-rate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converts trials at 41.9% versus 29.8% on Android, a 12.1 pts gap, while mobile's share of revenue grew from 44.4% to 49.0%. Churn falls from 17.4% in a subscriber's first month to 5.8% by month 12, so early-tenure retention drives the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 25% of members generate 60.4% of sales, and member retention is 89.7% period to period. Only 2 of 30 marketing campaigns produced a statistically significant sales lift, and the portfolio's incremental sales were -$30K versus control, which is indistinguishable from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Prioritize Android onboarding tests to close the 12.1 pts conversion gap as mobile becomes a larger share of revenue. Stop scaling broad campaigns without a control group; fund the 2 that showed lift and re-test the rest. Protect the top 25% of members, who drive 60.4% of sales, with retention offers rather than broad discounts. Plan FY2026 on constant-currency numbers and show the $201K currency range alongside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Subscription figures: simulated business. Campaign figures: dunnhumby Complete Journey (real retail data).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GTM Business Review: growth is real, campaign spend is not working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$3.37M FY2025 revenue, 32.8% constant-currency growth; $4.28M forecast for FY2026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Only 2 of 30 campaigns produced a significant sales lift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On track for 27.1% growth; currency is a drag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of FY2025 growth lost to currency"/>
          <p:cNvSpPr/>
          <p:nvPr/>
        </p:nvSpPr>
        <p:spPr>
          <a:xfrm>
            <a:off x="5760720" y="1188720"/>
            <a:ext cx="2926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of FY2025 growth lost to currency"/>
          <p:cNvSpPr txBox="1"/>
          <p:nvPr/>
        </p:nvSpPr>
        <p:spPr>
          <a:xfrm>
            <a:off x="5897880" y="12618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2.1 pts</a:t>
            </a:r>
            <a:endParaRPr lang="en-US" sz="3000" dirty="0"/>
          </a:p>
        </p:txBody>
      </p:sp>
      <p:sp>
        <p:nvSpPr>
          <p:cNvPr id="6" name="label of FY2025 growth lost to currency"/>
          <p:cNvSpPr txBox="1"/>
          <p:nvPr/>
        </p:nvSpPr>
        <p:spPr>
          <a:xfrm>
            <a:off x="5897880" y="1810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 FY2025 growth lost to currency</a:t>
            </a:r>
            <a:endParaRPr lang="en-US" sz="1100" dirty="0"/>
          </a:p>
        </p:txBody>
      </p:sp>
      <p:sp>
        <p:nvSpPr>
          <p:cNvPr id="7" name="card 24-month forecast error vs. 17.6% for run-rate"/>
          <p:cNvSpPr/>
          <p:nvPr/>
        </p:nvSpPr>
        <p:spPr>
          <a:xfrm>
            <a:off x="5760720" y="2377440"/>
            <a:ext cx="2926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24-month forecast error vs. 17.6% for run-rate"/>
          <p:cNvSpPr txBox="1"/>
          <p:nvPr/>
        </p:nvSpPr>
        <p:spPr>
          <a:xfrm>
            <a:off x="5897880" y="24505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2.8%</a:t>
            </a:r>
            <a:endParaRPr lang="en-US" sz="3000" dirty="0"/>
          </a:p>
        </p:txBody>
      </p:sp>
      <p:sp>
        <p:nvSpPr>
          <p:cNvPr id="9" name="label 24-month forecast error vs. 17.6% for run-rate"/>
          <p:cNvSpPr txBox="1"/>
          <p:nvPr/>
        </p:nvSpPr>
        <p:spPr>
          <a:xfrm>
            <a:off x="5897880" y="29992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24-month forecast error vs. 17.6% for run-rate</a:t>
            </a:r>
            <a:endParaRPr lang="en-US" sz="1100" dirty="0"/>
          </a:p>
        </p:txBody>
      </p:sp>
      <p:sp>
        <p:nvSpPr>
          <p:cNvPr id="10" name="card FY2026 swing from a 10% currency move"/>
          <p:cNvSpPr/>
          <p:nvPr/>
        </p:nvSpPr>
        <p:spPr>
          <a:xfrm>
            <a:off x="5760720" y="3566160"/>
            <a:ext cx="2926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at FY2026 swing from a 10% currency move"/>
          <p:cNvSpPr txBox="1"/>
          <p:nvPr/>
        </p:nvSpPr>
        <p:spPr>
          <a:xfrm>
            <a:off x="5897880" y="36393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$201K</a:t>
            </a:r>
            <a:endParaRPr lang="en-US" sz="3000" dirty="0"/>
          </a:p>
        </p:txBody>
      </p:sp>
      <p:sp>
        <p:nvSpPr>
          <p:cNvPr id="12" name="label FY2026 swing from a 10% currency move"/>
          <p:cNvSpPr txBox="1"/>
          <p:nvPr/>
        </p:nvSpPr>
        <p:spPr>
          <a:xfrm>
            <a:off x="5897880" y="41879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FY2026 swing from a 10% currency move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Android converts 12.1 pts below Web as mobile grows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mobile share of revenue"/>
          <p:cNvSpPr/>
          <p:nvPr/>
        </p:nvSpPr>
        <p:spPr>
          <a:xfrm>
            <a:off x="5760720" y="1188720"/>
            <a:ext cx="2926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mobile share of revenue"/>
          <p:cNvSpPr txBox="1"/>
          <p:nvPr/>
        </p:nvSpPr>
        <p:spPr>
          <a:xfrm>
            <a:off x="5897880" y="12618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44.4% → 49.0%</a:t>
            </a:r>
            <a:endParaRPr lang="en-US" sz="3000" dirty="0"/>
          </a:p>
        </p:txBody>
      </p:sp>
      <p:sp>
        <p:nvSpPr>
          <p:cNvPr id="6" name="label mobile share of revenue"/>
          <p:cNvSpPr txBox="1"/>
          <p:nvPr/>
        </p:nvSpPr>
        <p:spPr>
          <a:xfrm>
            <a:off x="5897880" y="1810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mobile share of revenue</a:t>
            </a:r>
            <a:endParaRPr lang="en-US" sz="1100" dirty="0"/>
          </a:p>
        </p:txBody>
      </p:sp>
      <p:sp>
        <p:nvSpPr>
          <p:cNvPr id="7" name="card month-1 churn, falling to 5.8% by month 12"/>
          <p:cNvSpPr/>
          <p:nvPr/>
        </p:nvSpPr>
        <p:spPr>
          <a:xfrm>
            <a:off x="5760720" y="2377440"/>
            <a:ext cx="2926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month-1 churn, falling to 5.8% by month 12"/>
          <p:cNvSpPr txBox="1"/>
          <p:nvPr/>
        </p:nvSpPr>
        <p:spPr>
          <a:xfrm>
            <a:off x="5897880" y="24505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17.4%</a:t>
            </a:r>
            <a:endParaRPr lang="en-US" sz="3000" dirty="0"/>
          </a:p>
        </p:txBody>
      </p:sp>
      <p:sp>
        <p:nvSpPr>
          <p:cNvPr id="9" name="label month-1 churn, falling to 5.8% by month 12"/>
          <p:cNvSpPr txBox="1"/>
          <p:nvPr/>
        </p:nvSpPr>
        <p:spPr>
          <a:xfrm>
            <a:off x="5897880" y="29992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month-1 churn, falling to 5.8% by month 12</a:t>
            </a:r>
            <a:endParaRPr lang="en-US" sz="1100" dirty="0"/>
          </a:p>
        </p:txBody>
      </p:sp>
      <p:sp>
        <p:nvSpPr>
          <p:cNvPr id="10" name="card annual-plan renewal rate"/>
          <p:cNvSpPr/>
          <p:nvPr/>
        </p:nvSpPr>
        <p:spPr>
          <a:xfrm>
            <a:off x="5760720" y="3566160"/>
            <a:ext cx="2926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at annual-plan renewal rate"/>
          <p:cNvSpPr txBox="1"/>
          <p:nvPr/>
        </p:nvSpPr>
        <p:spPr>
          <a:xfrm>
            <a:off x="5897880" y="36393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70.1%</a:t>
            </a:r>
            <a:endParaRPr lang="en-US" sz="3000" dirty="0"/>
          </a:p>
        </p:txBody>
      </p:sp>
      <p:sp>
        <p:nvSpPr>
          <p:cNvPr id="12" name="label annual-plan renewal rate"/>
          <p:cNvSpPr txBox="1"/>
          <p:nvPr/>
        </p:nvSpPr>
        <p:spPr>
          <a:xfrm>
            <a:off x="5897880" y="41879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annual-plan renewal rate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Only 2 of 30 campaigns moved sales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3840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portfolio incremental sales vs. control (not different from zero)"/>
          <p:cNvSpPr/>
          <p:nvPr/>
        </p:nvSpPr>
        <p:spPr>
          <a:xfrm>
            <a:off x="4754880" y="1188720"/>
            <a:ext cx="39319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portfolio incremental sales vs. control (not different from zero)"/>
          <p:cNvSpPr txBox="1"/>
          <p:nvPr/>
        </p:nvSpPr>
        <p:spPr>
          <a:xfrm>
            <a:off x="4892040" y="12618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-$30K</a:t>
            </a:r>
            <a:endParaRPr lang="en-US" sz="3000" dirty="0"/>
          </a:p>
        </p:txBody>
      </p:sp>
      <p:sp>
        <p:nvSpPr>
          <p:cNvPr id="6" name="label portfolio incremental sales vs. control (not different from zero)"/>
          <p:cNvSpPr txBox="1"/>
          <p:nvPr/>
        </p:nvSpPr>
        <p:spPr>
          <a:xfrm>
            <a:off x="4892040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portfolio incremental sales vs. control (not different from zero)</a:t>
            </a:r>
            <a:endParaRPr lang="en-US" sz="1100" dirty="0"/>
          </a:p>
        </p:txBody>
      </p:sp>
      <p:sp>
        <p:nvSpPr>
          <p:cNvPr id="7" name="card of sales come from the top 25% of members"/>
          <p:cNvSpPr/>
          <p:nvPr/>
        </p:nvSpPr>
        <p:spPr>
          <a:xfrm>
            <a:off x="4754880" y="2377440"/>
            <a:ext cx="39319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of sales come from the top 25% of members"/>
          <p:cNvSpPr txBox="1"/>
          <p:nvPr/>
        </p:nvSpPr>
        <p:spPr>
          <a:xfrm>
            <a:off x="4892040" y="24505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60.4%</a:t>
            </a:r>
            <a:endParaRPr lang="en-US" sz="3000" dirty="0"/>
          </a:p>
        </p:txBody>
      </p:sp>
      <p:sp>
        <p:nvSpPr>
          <p:cNvPr id="9" name="label of sales come from the top 25% of members"/>
          <p:cNvSpPr txBox="1"/>
          <p:nvPr/>
        </p:nvSpPr>
        <p:spPr>
          <a:xfrm>
            <a:off x="4892040" y="2999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 sales come from the top 25% of members</a:t>
            </a:r>
            <a:endParaRPr lang="en-US" sz="1100" dirty="0"/>
          </a:p>
        </p:txBody>
      </p:sp>
      <p:sp>
        <p:nvSpPr>
          <p:cNvPr id="10" name="card attach rate, coupon vs. no coupon (correlation only)"/>
          <p:cNvSpPr/>
          <p:nvPr/>
        </p:nvSpPr>
        <p:spPr>
          <a:xfrm>
            <a:off x="4754880" y="3566160"/>
            <a:ext cx="39319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at attach rate, coupon vs. no coupon (correlation only)"/>
          <p:cNvSpPr txBox="1"/>
          <p:nvPr/>
        </p:nvSpPr>
        <p:spPr>
          <a:xfrm>
            <a:off x="4892040" y="36393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58.1% vs. 47.8%</a:t>
            </a:r>
            <a:endParaRPr lang="en-US" sz="3000" dirty="0"/>
          </a:p>
        </p:txBody>
      </p:sp>
      <p:sp>
        <p:nvSpPr>
          <p:cNvPr id="12" name="label attach rate, coupon vs. no coupon (correlation only)"/>
          <p:cNvSpPr txBox="1"/>
          <p:nvPr/>
        </p:nvSpPr>
        <p:spPr>
          <a:xfrm>
            <a:off x="4892040" y="4187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attach rate, coupon vs. no coupon (correlation only)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Four actions for the next planning cycle</a:t>
            </a:r>
            <a:endParaRPr lang="en-US" sz="2600" dirty="0"/>
          </a:p>
        </p:txBody>
      </p:sp>
      <p:sp>
        <p:nvSpPr>
          <p:cNvPr id="3" name="rec card 1"/>
          <p:cNvSpPr/>
          <p:nvPr/>
        </p:nvSpPr>
        <p:spPr>
          <a:xfrm>
            <a:off x="457200" y="132588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c badge 1"/>
          <p:cNvSpPr/>
          <p:nvPr/>
        </p:nvSpPr>
        <p:spPr>
          <a:xfrm>
            <a:off x="640080" y="15270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rec num 1"/>
          <p:cNvSpPr txBox="1"/>
          <p:nvPr/>
        </p:nvSpPr>
        <p:spPr>
          <a:xfrm>
            <a:off x="64008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rec head 1"/>
          <p:cNvSpPr txBox="1"/>
          <p:nvPr/>
        </p:nvSpPr>
        <p:spPr>
          <a:xfrm>
            <a:off x="1234440" y="1508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Fix Android onboarding</a:t>
            </a:r>
            <a:endParaRPr lang="en-US" sz="1600" dirty="0"/>
          </a:p>
        </p:txBody>
      </p:sp>
      <p:sp>
        <p:nvSpPr>
          <p:cNvPr id="7" name="rec body 1"/>
          <p:cNvSpPr txBox="1"/>
          <p:nvPr/>
        </p:nvSpPr>
        <p:spPr>
          <a:xfrm>
            <a:off x="1234440" y="20391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 onboarding changes to close the 12.1 pts gap as mobile becomes ~half of revenue.</a:t>
            </a:r>
            <a:endParaRPr lang="en-US" sz="1200" dirty="0"/>
          </a:p>
        </p:txBody>
      </p:sp>
      <p:sp>
        <p:nvSpPr>
          <p:cNvPr id="8" name="rec card 2"/>
          <p:cNvSpPr/>
          <p:nvPr/>
        </p:nvSpPr>
        <p:spPr>
          <a:xfrm>
            <a:off x="4663440" y="132588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c badge 2"/>
          <p:cNvSpPr/>
          <p:nvPr/>
        </p:nvSpPr>
        <p:spPr>
          <a:xfrm>
            <a:off x="4846320" y="15270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rec num 2"/>
          <p:cNvSpPr txBox="1"/>
          <p:nvPr/>
        </p:nvSpPr>
        <p:spPr>
          <a:xfrm>
            <a:off x="484632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rec head 2"/>
          <p:cNvSpPr txBox="1"/>
          <p:nvPr/>
        </p:nvSpPr>
        <p:spPr>
          <a:xfrm>
            <a:off x="5440680" y="1508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Fund what works</a:t>
            </a:r>
            <a:endParaRPr lang="en-US" sz="1600" dirty="0"/>
          </a:p>
        </p:txBody>
      </p:sp>
      <p:sp>
        <p:nvSpPr>
          <p:cNvPr id="12" name="rec body 2"/>
          <p:cNvSpPr txBox="1"/>
          <p:nvPr/>
        </p:nvSpPr>
        <p:spPr>
          <a:xfrm>
            <a:off x="5440680" y="20391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Keep the 2 campaigns with proven lift; require a control group before scaling any other.</a:t>
            </a:r>
            <a:endParaRPr lang="en-US" sz="1200" dirty="0"/>
          </a:p>
        </p:txBody>
      </p:sp>
      <p:sp>
        <p:nvSpPr>
          <p:cNvPr id="13" name="rec card 3"/>
          <p:cNvSpPr/>
          <p:nvPr/>
        </p:nvSpPr>
        <p:spPr>
          <a:xfrm>
            <a:off x="457200" y="292608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c badge 3"/>
          <p:cNvSpPr/>
          <p:nvPr/>
        </p:nvSpPr>
        <p:spPr>
          <a:xfrm>
            <a:off x="640080" y="31272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rec num 3"/>
          <p:cNvSpPr txBox="1"/>
          <p:nvPr/>
        </p:nvSpPr>
        <p:spPr>
          <a:xfrm>
            <a:off x="6400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rec head 3"/>
          <p:cNvSpPr txBox="1"/>
          <p:nvPr/>
        </p:nvSpPr>
        <p:spPr>
          <a:xfrm>
            <a:off x="1234440" y="3108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Protect top members</a:t>
            </a:r>
            <a:endParaRPr lang="en-US" sz="1600" dirty="0"/>
          </a:p>
        </p:txBody>
      </p:sp>
      <p:sp>
        <p:nvSpPr>
          <p:cNvPr id="17" name="rec body 3"/>
          <p:cNvSpPr txBox="1"/>
          <p:nvPr/>
        </p:nvSpPr>
        <p:spPr>
          <a:xfrm>
            <a:off x="1234440" y="36393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Retention offers for the top 25%, who drive 60.4% of sales, instead of broad discounts.</a:t>
            </a:r>
            <a:endParaRPr lang="en-US" sz="1200" dirty="0"/>
          </a:p>
        </p:txBody>
      </p:sp>
      <p:sp>
        <p:nvSpPr>
          <p:cNvPr id="18" name="rec card 4"/>
          <p:cNvSpPr/>
          <p:nvPr/>
        </p:nvSpPr>
        <p:spPr>
          <a:xfrm>
            <a:off x="4663440" y="292608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ec badge 4"/>
          <p:cNvSpPr/>
          <p:nvPr/>
        </p:nvSpPr>
        <p:spPr>
          <a:xfrm>
            <a:off x="4846320" y="31272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rec num 4"/>
          <p:cNvSpPr txBox="1"/>
          <p:nvPr/>
        </p:nvSpPr>
        <p:spPr>
          <a:xfrm>
            <a:off x="484632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rec head 4"/>
          <p:cNvSpPr txBox="1"/>
          <p:nvPr/>
        </p:nvSpPr>
        <p:spPr>
          <a:xfrm>
            <a:off x="5440680" y="3108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Plan in constant currency</a:t>
            </a:r>
            <a:endParaRPr lang="en-US" sz="1600" dirty="0"/>
          </a:p>
        </p:txBody>
      </p:sp>
      <p:sp>
        <p:nvSpPr>
          <p:cNvPr id="22" name="rec body 4"/>
          <p:cNvSpPr txBox="1"/>
          <p:nvPr/>
        </p:nvSpPr>
        <p:spPr>
          <a:xfrm>
            <a:off x="5440680" y="36393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Set FY2026 targets at constant currency and show the $201K FX range alongside.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TM Review">
  <a:themeElements>
    <a:clrScheme name="GTM Review">
      <a:dk1>
        <a:srgbClr val="16213E"/>
      </a:dk1>
      <a:lt1>
        <a:srgbClr val="FFFFFF"/>
      </a:lt1>
      <a:dk2>
        <a:srgbClr val="0F3460"/>
      </a:dk2>
      <a:lt2>
        <a:srgbClr val="EEF2F7"/>
      </a:lt2>
      <a:accent1>
        <a:srgbClr val="E9A23B"/>
      </a:accent1>
      <a:accent2>
        <a:srgbClr val="0F3460"/>
      </a:accent2>
      <a:accent3>
        <a:srgbClr val="5C7AEA"/>
      </a:accent3>
      <a:accent4>
        <a:srgbClr val="C94F4F"/>
      </a:accent4>
      <a:accent5>
        <a:srgbClr val="3FA796"/>
      </a:accent5>
      <a:accent6>
        <a:srgbClr val="8A94A6"/>
      </a:accent6>
      <a:hlink>
        <a:srgbClr val="0F3460"/>
      </a:hlink>
      <a:folHlink>
        <a:srgbClr val="5C7AEA"/>
      </a:folHlink>
    </a:clrScheme>
    <a:fontScheme name="GTM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GTM Business Review</dc:title>
  <dc:subject>PptxGenJS Presentation</dc:subject>
  <dc:creator>Achintya Vamshi Nudurupati</dc:creator>
  <cp:lastModifiedBy>Achintya Vamshi Nudurupati</cp:lastModifiedBy>
  <cp:revision>1</cp:revision>
  <dcterms:created xsi:type="dcterms:W3CDTF">2026-10-28T15:39:51Z</dcterms:created>
  <dcterms:modified xsi:type="dcterms:W3CDTF">2026-10-28T15:39:51Z</dcterms:modified>
</cp:coreProperties>
</file>